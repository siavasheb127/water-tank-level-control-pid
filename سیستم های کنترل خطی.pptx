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F93D0-AC9A-DF1D-FF9F-45CB88FC4F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 rtl="1"/>
            <a:r>
              <a:rPr lang="fa-IR" dirty="0"/>
              <a:t>سیستم های کنترل خطی </a:t>
            </a:r>
            <a:br>
              <a:rPr lang="fa-IR" dirty="0"/>
            </a:br>
            <a:br>
              <a:rPr lang="fa-IR" dirty="0"/>
            </a:br>
            <a:r>
              <a:rPr lang="fa-IR" dirty="0"/>
              <a:t>سیستم کنترل ارتفاع تانکر آب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DA950A-90B6-7588-D66B-8D369A2BB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4035933"/>
            <a:ext cx="8791575" cy="1655762"/>
          </a:xfrm>
        </p:spPr>
        <p:txBody>
          <a:bodyPr/>
          <a:lstStyle/>
          <a:p>
            <a:pPr algn="r" rtl="1"/>
            <a:r>
              <a:rPr lang="fa-IR" dirty="0"/>
              <a:t>سیاوش ابراهیمی کمال </a:t>
            </a:r>
          </a:p>
          <a:p>
            <a:pPr algn="r" rtl="1"/>
            <a:r>
              <a:rPr lang="fa-IR" dirty="0"/>
              <a:t>حسین اسکندری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902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9446-6B1B-BD74-1345-E6DD3FD8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استخراج معادلات دینامیکی و پیاده سازی مدل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335F6-6ABA-0D88-B103-9494746E5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91" y="2738026"/>
            <a:ext cx="4743871" cy="135255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74A9DA-7B6F-98E7-798F-35D219671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6447" y="2133245"/>
            <a:ext cx="9905999" cy="3541714"/>
          </a:xfrm>
        </p:spPr>
        <p:txBody>
          <a:bodyPr/>
          <a:lstStyle/>
          <a:p>
            <a:pPr algn="r" rtl="1"/>
            <a:r>
              <a:rPr lang="fa-IR" dirty="0"/>
              <a:t>ورودی سیستم بصورت شیر جریان ورودی (فیدبک شده با ارتفاع)</a:t>
            </a:r>
          </a:p>
          <a:p>
            <a:pPr algn="r" rtl="1"/>
            <a:endParaRPr lang="fa-IR" dirty="0"/>
          </a:p>
          <a:p>
            <a:pPr marL="0" indent="0" algn="r" rtl="1">
              <a:buNone/>
            </a:pPr>
            <a:endParaRPr lang="fa-IR" dirty="0"/>
          </a:p>
          <a:p>
            <a:pPr algn="r" rtl="1"/>
            <a:r>
              <a:rPr lang="fa-IR" dirty="0"/>
              <a:t>شیر خروجی به عنوان اغتشاش(سیگنال پله در ثانیه 50 )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F553EA-E4A7-80F5-2E51-B8F84CA9E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23" y="4494699"/>
            <a:ext cx="6874328" cy="2044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F57FF5-656A-B884-9A60-E5FA8E196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586" y="4817383"/>
            <a:ext cx="4751540" cy="14220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4280D2-336E-87D0-F2DE-781E0707D308}"/>
              </a:ext>
            </a:extLst>
          </p:cNvPr>
          <p:cNvSpPr txBox="1"/>
          <p:nvPr/>
        </p:nvSpPr>
        <p:spPr>
          <a:xfrm>
            <a:off x="1112028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22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DBD95-12DB-3F76-8FF4-8CE512D52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19C57-F956-64A4-BD32-98E0C7E8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استخراج معادلات دینامیکی و پیاده سازی مدل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F6F81A-23D7-86A2-F50E-247CA1D1EA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950" y="1816373"/>
            <a:ext cx="6072462" cy="1333585"/>
          </a:xfrm>
          <a:prstGeom prst="rect">
            <a:avLst/>
          </a:prstGeo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E4D6A4E-1727-0031-5902-00AA5C79A909}"/>
              </a:ext>
            </a:extLst>
          </p:cNvPr>
          <p:cNvSpPr txBox="1">
            <a:spLocks/>
          </p:cNvSpPr>
          <p:nvPr/>
        </p:nvSpPr>
        <p:spPr>
          <a:xfrm>
            <a:off x="1716447" y="2133245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/>
              <a:t>مدلسازی مخزن آب به عنوان انتگرال گیر خالص</a:t>
            </a:r>
          </a:p>
          <a:p>
            <a:pPr marL="0" indent="0" algn="r" rtl="1">
              <a:buFont typeface="Arial" panose="020B0604020202020204" pitchFamily="34" charset="0"/>
              <a:buNone/>
            </a:pPr>
            <a:endParaRPr lang="fa-IR" dirty="0"/>
          </a:p>
          <a:p>
            <a:pPr algn="r" rtl="1"/>
            <a:r>
              <a:rPr lang="fa-IR" dirty="0"/>
              <a:t>پاسخ پله حلقه باز و حلقه بسته مدل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99AEAD-AD67-ABCA-E2C0-48F54D651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041" y="3508744"/>
            <a:ext cx="2427060" cy="30256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9FF532-F7C8-F8A8-0E16-7B9AB3833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230" y="3294943"/>
            <a:ext cx="2557166" cy="32977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8191D1-E2DD-B76A-9233-058563E4906E}"/>
              </a:ext>
            </a:extLst>
          </p:cNvPr>
          <p:cNvSpPr txBox="1"/>
          <p:nvPr/>
        </p:nvSpPr>
        <p:spPr>
          <a:xfrm>
            <a:off x="1112028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067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D368B-706B-E6D6-1B69-2855AD04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792F-5ABD-130A-C351-B45FFB35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استخراج معادلات دینامیکی و پیاده سازی مدل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FE96419-B4FE-1F44-01D4-28E8983632DA}"/>
              </a:ext>
            </a:extLst>
          </p:cNvPr>
          <p:cNvSpPr txBox="1">
            <a:spLocks/>
          </p:cNvSpPr>
          <p:nvPr/>
        </p:nvSpPr>
        <p:spPr>
          <a:xfrm>
            <a:off x="1716447" y="2133245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/>
              <a:t>مدل جریان ورودی فیدبکی و بدون جریان خروجی</a:t>
            </a:r>
          </a:p>
          <a:p>
            <a:pPr marL="0" indent="0" algn="r" rtl="1">
              <a:buFont typeface="Arial" panose="020B0604020202020204" pitchFamily="34" charset="0"/>
              <a:buNone/>
            </a:pPr>
            <a:endParaRPr lang="fa-IR" dirty="0"/>
          </a:p>
          <a:p>
            <a:pPr algn="r" rtl="1"/>
            <a:r>
              <a:rPr lang="fa-IR" dirty="0"/>
              <a:t>مدل جریان ورودی فیدبکی و تخلیه خروجی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8FA2192-E7AA-719E-9AA1-815BBF80AD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753" y="3904102"/>
            <a:ext cx="6512151" cy="24748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0F07B4-5A9C-5181-5CBE-CF1ADCD0D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57374"/>
            <a:ext cx="4553146" cy="18016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2CED16-8D93-988C-AA89-CB374E843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762" y="2713831"/>
            <a:ext cx="876422" cy="6096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6E4617-F3AE-7ABF-E934-D352DF6DD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895" y="4410965"/>
            <a:ext cx="2553056" cy="60015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63FA6E7-4F59-B54D-C829-E589E6412DAA}"/>
              </a:ext>
            </a:extLst>
          </p:cNvPr>
          <p:cNvSpPr txBox="1"/>
          <p:nvPr/>
        </p:nvSpPr>
        <p:spPr>
          <a:xfrm>
            <a:off x="1112028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58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35D09-D3C7-5C35-E5AF-4C03EBE2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67F3-ED7A-9FCF-C05F-22AA19E5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استخراج معادلات دینامیکی و پیاده سازی مدل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C6B37E2-B8E4-E715-D995-1A94BC43F68B}"/>
              </a:ext>
            </a:extLst>
          </p:cNvPr>
          <p:cNvSpPr txBox="1">
            <a:spLocks/>
          </p:cNvSpPr>
          <p:nvPr/>
        </p:nvSpPr>
        <p:spPr>
          <a:xfrm>
            <a:off x="1716447" y="2133245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/>
              <a:t>مدل خطی سازی شده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DFF101-0584-5F85-C645-8E72E2ACE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78" y="1894787"/>
            <a:ext cx="7294795" cy="2739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AA9BB6-E35C-5907-8568-1B1DE376D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022" y="4786271"/>
            <a:ext cx="2000529" cy="800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AF6111-22FD-B613-D645-DA7C025E9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678" y="4712800"/>
            <a:ext cx="1895740" cy="9621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935C05-E3A9-330F-94F8-94F8487C35C9}"/>
              </a:ext>
            </a:extLst>
          </p:cNvPr>
          <p:cNvSpPr txBox="1"/>
          <p:nvPr/>
        </p:nvSpPr>
        <p:spPr>
          <a:xfrm>
            <a:off x="11120284" y="6488668"/>
            <a:ext cx="312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68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7C08E-C117-0B10-BD9E-AC62F979C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تحلیل حلقه باز سیستم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360AC9-0F19-02FF-D3BF-3DF2508DE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16" y="1983966"/>
            <a:ext cx="5172584" cy="4255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EFE45E-C223-1FE4-CE5E-C0940E188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314" y="1983966"/>
            <a:ext cx="5243266" cy="42221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04C270-1C50-2DF3-2B93-764D788CE5F6}"/>
              </a:ext>
            </a:extLst>
          </p:cNvPr>
          <p:cNvSpPr txBox="1"/>
          <p:nvPr/>
        </p:nvSpPr>
        <p:spPr>
          <a:xfrm>
            <a:off x="1112028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673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EBDF6-5312-36D9-DDBA-3E8C0F665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تحلیل حوزه فرکانس 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49FFBA-2F88-3738-F3E0-E4039C787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7387" y="2249488"/>
            <a:ext cx="9054051" cy="35417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973B6B-B8BB-DC9E-9B21-AD6A666CECCB}"/>
              </a:ext>
            </a:extLst>
          </p:cNvPr>
          <p:cNvSpPr txBox="1"/>
          <p:nvPr/>
        </p:nvSpPr>
        <p:spPr>
          <a:xfrm>
            <a:off x="11120284" y="6488668"/>
            <a:ext cx="312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194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9C8B-63C4-02AF-4973-A7157627F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طراحی جبران ساز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D19EF-7390-42EC-3FCB-4FABB4876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سیستم خطی سازی شده اول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16A79-F3F1-31C0-B723-068B30809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030" y="2879687"/>
            <a:ext cx="2978487" cy="25349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19EB70-9D79-FADD-4FCB-002D33057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07" y="2885585"/>
            <a:ext cx="3106225" cy="25332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18D5CF-D143-7FA3-41F1-C3C16E175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420" y="362469"/>
            <a:ext cx="5817780" cy="2259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2FA0DB-A402-5302-016A-69D08FE99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4891" y="2879687"/>
            <a:ext cx="3106225" cy="25391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E33A46-9C2C-D9C8-2C00-3AF23118E9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614" y="2885584"/>
            <a:ext cx="3084277" cy="25332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48939D5-B0C4-DDE2-728E-AC661A328B2B}"/>
              </a:ext>
            </a:extLst>
          </p:cNvPr>
          <p:cNvSpPr txBox="1"/>
          <p:nvPr/>
        </p:nvSpPr>
        <p:spPr>
          <a:xfrm>
            <a:off x="1112028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368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DD8D1-1351-6A2C-8618-205E71783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2CC5-280D-EE46-17BA-8E9786C5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طراحی جبران ساز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8EDA0-3FAA-A73A-D021-5697A4698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سیستم غیر خطی دوم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FDA47-D4C0-1AC3-8B86-072751C1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635" y="2919575"/>
            <a:ext cx="3178801" cy="2589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1D6DAC-5B59-7969-B709-45551600D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9" y="279991"/>
            <a:ext cx="5440671" cy="24112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BC269A-C65D-8DD5-C676-1C3C565F6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2" y="2908806"/>
            <a:ext cx="3451383" cy="26128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9FC534-64AE-9A48-6E47-CE582E50A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841" y="2908806"/>
            <a:ext cx="3178801" cy="26005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1423B5B-8E9A-6EAD-EDBB-C3CB41EF9E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004" y="2907917"/>
            <a:ext cx="3052476" cy="26241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193588F-26FE-378B-F795-6491644A548C}"/>
              </a:ext>
            </a:extLst>
          </p:cNvPr>
          <p:cNvSpPr txBox="1"/>
          <p:nvPr/>
        </p:nvSpPr>
        <p:spPr>
          <a:xfrm>
            <a:off x="1112028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00551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71674-CA4F-F39C-7C0D-E76C54A4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B3702-2195-BC88-2878-5BC06E1D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طراحی جبران ساز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3F688-544C-EE0E-1E7F-442DD9D37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سیستم خطی سازی شده دوم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BA3B46-C768-95F7-20E1-40A60A071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39" y="339605"/>
            <a:ext cx="5452427" cy="22037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CEE736-8DAE-57EF-8074-A818F3447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672" y="2809439"/>
            <a:ext cx="3198047" cy="261600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9682DD9-9C68-0B64-2D8A-980B3C135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298" y="2809438"/>
            <a:ext cx="3176802" cy="26160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2826720-512E-93AC-5628-EEC51C48F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716" y="2800538"/>
            <a:ext cx="3187646" cy="261600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F45F223-0B4E-9B56-5F8D-CC7823E502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9797" y="2797544"/>
            <a:ext cx="3213670" cy="262789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1F2CB53-110C-266E-921C-839ABA384B74}"/>
              </a:ext>
            </a:extLst>
          </p:cNvPr>
          <p:cNvSpPr txBox="1"/>
          <p:nvPr/>
        </p:nvSpPr>
        <p:spPr>
          <a:xfrm>
            <a:off x="1112028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5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3F9C-7485-7483-E838-7A61EB93F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اثر نویز بر سیستم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3F305F0-3DA0-EB78-7857-5A2DC9ED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573" y="3156518"/>
            <a:ext cx="6590347" cy="31592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9D313B-D3CF-4F87-9B6A-3DFF03DA3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3" y="542246"/>
            <a:ext cx="7609840" cy="24070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D670DC-BC9E-BFF7-C4FF-1B9309971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60" y="3401552"/>
            <a:ext cx="4807216" cy="28379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24984A-98F3-07BA-33E8-4F8BB4D77225}"/>
              </a:ext>
            </a:extLst>
          </p:cNvPr>
          <p:cNvSpPr txBox="1"/>
          <p:nvPr/>
        </p:nvSpPr>
        <p:spPr>
          <a:xfrm>
            <a:off x="7125060" y="3032220"/>
            <a:ext cx="529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/>
              <a:t>بدلیل وجود مشتقگیر سیگنال شیر ورودی نویز چند برابر می شود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B3C5F0-38A4-969C-D9E3-BFB34E390CF2}"/>
              </a:ext>
            </a:extLst>
          </p:cNvPr>
          <p:cNvSpPr txBox="1"/>
          <p:nvPr/>
        </p:nvSpPr>
        <p:spPr>
          <a:xfrm>
            <a:off x="11120284" y="648866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550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183A-2A85-DC7E-010D-72260FFEF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اثر نویز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C1BC1-B881-8F74-3E00-638118236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استفاده از کنترلر انتگرالی تناسبی</a:t>
            </a:r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algn="r" rtl="1"/>
            <a:r>
              <a:rPr lang="fa-IR" dirty="0"/>
              <a:t>استفاده از فیلتر پایین گذر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099252-B873-3C93-DA2D-132DA5A65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66799"/>
            <a:ext cx="5844478" cy="24877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877145-B12B-FD68-48F8-5C99889A7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7753"/>
            <a:ext cx="3810000" cy="16502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D3F7F1-3991-2965-A0D5-5AB75A00B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480" y="3809685"/>
            <a:ext cx="3332480" cy="17263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525821-BDB6-083A-F6E1-688091476A81}"/>
              </a:ext>
            </a:extLst>
          </p:cNvPr>
          <p:cNvSpPr txBox="1"/>
          <p:nvPr/>
        </p:nvSpPr>
        <p:spPr>
          <a:xfrm>
            <a:off x="11120284" y="6488668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2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F04D-4D44-A7D8-A9F9-1E204A55B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اثر نویز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DC63C-1BDF-A830-E8F3-177D6EBF9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تابع پله به عنوان اغتشاش</a:t>
            </a:r>
          </a:p>
          <a:p>
            <a:pPr algn="r" rtl="1"/>
            <a:endParaRPr lang="fa-IR" dirty="0"/>
          </a:p>
          <a:p>
            <a:pPr algn="r" rtl="1"/>
            <a:endParaRPr lang="fa-IR" dirty="0"/>
          </a:p>
          <a:p>
            <a:pPr marL="0" indent="0" algn="r" rtl="1">
              <a:buNone/>
            </a:pPr>
            <a:endParaRPr lang="fa-IR" dirty="0"/>
          </a:p>
          <a:p>
            <a:pPr algn="r" rtl="1"/>
            <a:r>
              <a:rPr lang="fa-IR" dirty="0"/>
              <a:t>در صورت استفاده از کنترلر انتگرالی  خطای ماندگار صفر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085CB6-3B1A-29A7-D6A4-A1DB575F2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51" y="2572821"/>
            <a:ext cx="3185652" cy="25632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8FA601-096B-74A8-0EA7-65810AE19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433" y="336795"/>
            <a:ext cx="6552542" cy="21254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772EBA-32E0-02C4-59C5-818E98E56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446" y="4003491"/>
            <a:ext cx="3054258" cy="24345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F44A2D-F428-2A3D-7C95-907348A6D0A9}"/>
              </a:ext>
            </a:extLst>
          </p:cNvPr>
          <p:cNvSpPr txBox="1"/>
          <p:nvPr/>
        </p:nvSpPr>
        <p:spPr>
          <a:xfrm>
            <a:off x="11120284" y="648866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076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1880</TotalTime>
  <Words>188</Words>
  <Application>Microsoft Office PowerPoint</Application>
  <PresentationFormat>Widescreen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سیستم های کنترل خطی   سیستم کنترل ارتفاع تانکر آب</vt:lpstr>
      <vt:lpstr>استخراج معادلات دینامیکی و پیاده سازی مدل</vt:lpstr>
      <vt:lpstr>استخراج معادلات دینامیکی و پیاده سازی مدل</vt:lpstr>
      <vt:lpstr>استخراج معادلات دینامیکی و پیاده سازی مدل</vt:lpstr>
      <vt:lpstr>استخراج معادلات دینامیکی و پیاده سازی مدل</vt:lpstr>
      <vt:lpstr>تحلیل حلقه باز سیستم </vt:lpstr>
      <vt:lpstr>تحلیل حوزه فرکانس </vt:lpstr>
      <vt:lpstr>طراحی جبران ساز </vt:lpstr>
      <vt:lpstr>طراحی جبران ساز </vt:lpstr>
      <vt:lpstr>طراحی جبران ساز </vt:lpstr>
      <vt:lpstr>اثر نویز بر سیستم</vt:lpstr>
      <vt:lpstr>اثر نویز</vt:lpstr>
      <vt:lpstr>اثر نویز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2026-02-13T14:57:04Z</dcterms:created>
  <dcterms:modified xsi:type="dcterms:W3CDTF">2026-02-14T22:17:45Z</dcterms:modified>
</cp:coreProperties>
</file>